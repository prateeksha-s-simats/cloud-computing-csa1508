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D6596-3141-4B44-AF07-88A46CF8FD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DADAA-E4D6-48AB-96DD-BC9B6DC77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5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78B6-E46B-3A8A-5AA6-BEE4851B5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CBD96-3A09-8532-0B94-64984A3AD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ED6A4-AC37-237C-E861-D0EBBEC9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251B0-FAE2-4C80-A955-79F2795D7CBA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D0EC9-B375-352A-4099-BA6FE9B2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6C84-ADF0-CC9D-8E73-175710E8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65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4620-F724-E5B7-B870-EF390841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2F71-97BB-6030-676C-0DE5B6391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8624-779A-B028-E5C1-4C49D981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F41B-00A2-4DB7-8F37-5B163DB2DFF4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55BA-2211-7927-4519-5895D28BE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6326-E675-605F-6379-F2B62D73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9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2428-7DE9-0882-C233-71CCE954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5CFD2-1DA8-BDC2-3382-150110B1D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06AC-2191-9C2C-4EDF-DA6E4A83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78137-34F7-49CB-8A33-72B2D4785F33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AD4B-1387-FA0F-DE08-B1B31F06B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379C6-5F6C-1A29-6FC7-0B18084A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3237-D666-53AD-4E24-3F29BA52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DDAE-1BC3-CB89-33F9-393669C7B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B0BE9-0698-C9FF-CE86-AA25CE3DF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9D28B-10EB-9F80-DAC2-3E068A94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A0EC-FCDF-416A-9645-498C5803A033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7FCAC-F814-B73B-A581-48218FE5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26BC5-F813-7E68-8920-172903C4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8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EFF2-BDFB-5681-D5F8-787F2183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96328-983C-B97C-F86E-F1E8CA2AB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DDAEC-ADF5-84AC-F8B6-4F5AD55F4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BEA35-F047-F3A4-357D-B70E0DD06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E1816-753D-9E49-83F4-0D805160A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DAA8C-18D5-CBBC-5468-AD78594D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CA3E0-4E29-4A92-BF7B-16600506A234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8B038-0B29-0A14-A391-E096B09D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DA9F8-9529-C160-BE4B-051935F4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33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5F8E-8F4A-B8BA-D155-9AD90F5C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7745E-1174-8334-05EA-BF8DAA1A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14F95-39D3-4275-8BCC-EFFC94812288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25AAD-8B27-2A03-84D6-67B84288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BEEE7-BE39-791E-18A4-A1FA503A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0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0D4E0-E479-85C4-E550-94F43B94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4D41D-BAB9-4D3D-BE04-EE642E84209A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24EBE-6CCC-5889-C978-CF91CE17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07F97-6273-D964-2C13-AE21BDEC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83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EF5F-AA67-E3A0-0B2F-2F1592730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067A-ED3C-92EC-75A2-2F91C5E1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A49A3-5801-D9E2-744F-1FC36493D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FAB38-3147-19C6-82DF-539F1497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FD4C-0956-4D5C-A4F5-A54A5AE41E4A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0E2FF-CFDC-2B0D-7D9B-1447E4A2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FE465-0722-76EB-8E2D-CD106B84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94A5-3590-54A7-5BE9-C207F568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755B3-C82F-BA67-6789-A63A23EA3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D10D1-2F1B-4A88-A96E-3EFA6FAE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BFFBB-1452-A0ED-53D8-2F83C791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FBCC-1D7D-4B75-A3D2-CF3F59E4186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7DAB0-8BBC-4E4D-D1EB-62943F40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0F779-DD3E-354F-E8E5-6AE384B3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64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3BC4-15AF-9054-CAFE-38C32C4F3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72E06-B02B-E6BF-B588-C22B13C0B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B3FA5-4A03-6F0B-819D-26CE7DDC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5C26E-220D-4C62-A753-FD4FC97018D3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1676-DB9E-2CA0-A0C6-60683CBD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759E-B5C1-D2AB-5E51-999CC2B8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1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88DD8-6CBE-C133-3C19-B17D85BDE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19427-20F8-2D1B-5D77-8D2DF6BDE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E8C25-5A07-F698-CE4D-9243A09B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3E64-F240-4B42-8357-D45178F678D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994EC-C732-93AE-7CE2-A475CFE2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12057-491C-7809-242C-A2ED520B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8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17A0B-C044-D5B3-FF57-6B611BAB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A62FA-6B9F-F92B-EA6A-CD01AB8B5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40E57-86CA-4588-AED4-02B6FE544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E048-395E-4C83-B7C3-1E3311BE34DB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811D5-11C2-E23F-3AF6-A5767EAFA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B15D9-7965-4C0D-F67F-BE6902BD9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45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88E1-4158-47E7-0E91-1AA8C0703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39611"/>
            <a:ext cx="12025086" cy="8418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Fundamentals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C062AB-02B4-70F2-4BAB-6F53C8D20533}"/>
              </a:ext>
            </a:extLst>
          </p:cNvPr>
          <p:cNvSpPr txBox="1">
            <a:spLocks/>
          </p:cNvSpPr>
          <p:nvPr/>
        </p:nvSpPr>
        <p:spPr>
          <a:xfrm>
            <a:off x="1356918" y="2694594"/>
            <a:ext cx="9144000" cy="595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CSA1508-CLOUD COMPUTING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D7848FE-13FC-8EC6-E31D-47F3901D660F}"/>
              </a:ext>
            </a:extLst>
          </p:cNvPr>
          <p:cNvSpPr txBox="1">
            <a:spLocks/>
          </p:cNvSpPr>
          <p:nvPr/>
        </p:nvSpPr>
        <p:spPr>
          <a:xfrm>
            <a:off x="6454138" y="4893009"/>
            <a:ext cx="6727372" cy="2315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Prateeksha (192572137)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5AD9100-F478-7EAA-BDDF-3885CC87EE17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6650564-9742-89B0-68D8-109EC91D293B}"/>
              </a:ext>
            </a:extLst>
          </p:cNvPr>
          <p:cNvSpPr/>
          <p:nvPr/>
        </p:nvSpPr>
        <p:spPr>
          <a:xfrm>
            <a:off x="8367486" y="174171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E329F-393E-44A9-D13D-9FFD5C2EBC1C}"/>
              </a:ext>
            </a:extLst>
          </p:cNvPr>
          <p:cNvSpPr txBox="1"/>
          <p:nvPr/>
        </p:nvSpPr>
        <p:spPr>
          <a:xfrm>
            <a:off x="1" y="5234426"/>
            <a:ext cx="4678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Dr.CHENNI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KUMARAN.J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D6AA2-0EAE-B16F-C296-BDFEE7F6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41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4485-3380-462E-C377-8740EE6D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3D9A-B00A-4C0B-DB01-467B13175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6456" y="559645"/>
            <a:ext cx="4680857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96C81-972D-DB42-6FFA-A4B5044B8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493" y="1516575"/>
            <a:ext cx="10151729" cy="5079999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protects cloud-based data, applications, and infrastructure.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policies, technologies, and controls to prevent cyber threats.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confidentiality, integrity, and availability (CIA) of data.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secure cloud computing.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8C23CDA6-B05F-9D2C-AB0C-908E0729E707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C2CC3D6-D3BA-0738-93EA-82045CF6D146}"/>
              </a:ext>
            </a:extLst>
          </p:cNvPr>
          <p:cNvSpPr/>
          <p:nvPr/>
        </p:nvSpPr>
        <p:spPr>
          <a:xfrm>
            <a:off x="8367486" y="195942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388F3-76FE-7560-FCE0-4FFFE99F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C0C2-1D70-6960-72D8-DE84BFB9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9D13-7A7D-D632-B6D9-39FB7CC19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4159"/>
            <a:ext cx="9144000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C832C-5047-A2F3-9030-FD32B38D2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405" y="2147777"/>
            <a:ext cx="8537944" cy="4208572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cloud security fundamentals.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security models.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 the Shared Responsibility Model. Identify common security threats.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real-world security best practices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946617C-E1DF-B903-307C-0601F3C347F1}"/>
              </a:ext>
            </a:extLst>
          </p:cNvPr>
          <p:cNvSpPr/>
          <p:nvPr/>
        </p:nvSpPr>
        <p:spPr>
          <a:xfrm>
            <a:off x="130630" y="181429"/>
            <a:ext cx="2641600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442F58B-2E8D-D51D-E885-10A62F551CC9}"/>
              </a:ext>
            </a:extLst>
          </p:cNvPr>
          <p:cNvSpPr/>
          <p:nvPr/>
        </p:nvSpPr>
        <p:spPr>
          <a:xfrm>
            <a:off x="9245600" y="174171"/>
            <a:ext cx="2779486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172B5-45C4-5302-9F9C-0C981E32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09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C602-F56F-44C8-A915-DB78FB4C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A89E-20E5-F85E-147A-33078A649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771" y="991019"/>
            <a:ext cx="11640457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31F08-F61D-A2BA-FB76-A3DAFEB37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8376" y="1792515"/>
            <a:ext cx="8579967" cy="457925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and Access Management (IAM)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user access.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data at rest and in transit.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Firewalls, VPNs, and intrusion detection.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Trust Security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Verify every user and device before access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3C28099-67E2-16B9-0DD6-C639A959A976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9734480-0396-A371-16BB-65936ADA0CEE}"/>
              </a:ext>
            </a:extLst>
          </p:cNvPr>
          <p:cNvSpPr/>
          <p:nvPr/>
        </p:nvSpPr>
        <p:spPr>
          <a:xfrm>
            <a:off x="8569507" y="35946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20A0B-2A0E-2334-C3AD-060777FC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89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7971-CC56-A629-E877-F2EDB610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3D78-7B14-7E27-4CBC-5F9A66CA2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036" y="622669"/>
            <a:ext cx="11640457" cy="95693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Shared Responsibility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85941-25EC-2B17-DA2C-196D4866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5</a:t>
            </a:fld>
            <a:endParaRPr lang="en-IN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08FA3A25-3C81-F89A-B874-AE4D34758293}"/>
              </a:ext>
            </a:extLst>
          </p:cNvPr>
          <p:cNvSpPr/>
          <p:nvPr/>
        </p:nvSpPr>
        <p:spPr>
          <a:xfrm>
            <a:off x="-7596" y="21938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C9156D42-5966-64F3-C099-DC56F58B4CC9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C24A94-EBA3-9059-63A9-F26B4C7E6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678383"/>
              </p:ext>
            </p:extLst>
          </p:nvPr>
        </p:nvGraphicFramePr>
        <p:xfrm>
          <a:off x="869073" y="1650107"/>
          <a:ext cx="10920664" cy="4860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0332">
                  <a:extLst>
                    <a:ext uri="{9D8B030D-6E8A-4147-A177-3AD203B41FA5}">
                      <a16:colId xmlns:a16="http://schemas.microsoft.com/office/drawing/2014/main" val="456769984"/>
                    </a:ext>
                  </a:extLst>
                </a:gridCol>
                <a:gridCol w="5460332">
                  <a:extLst>
                    <a:ext uri="{9D8B030D-6E8A-4147-A177-3AD203B41FA5}">
                      <a16:colId xmlns:a16="http://schemas.microsoft.com/office/drawing/2014/main" val="3781432777"/>
                    </a:ext>
                  </a:extLst>
                </a:gridCol>
              </a:tblGrid>
              <a:tr h="78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Provider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387600"/>
                  </a:ext>
                </a:extLst>
              </a:tr>
              <a:tr h="78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accounts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483201"/>
                  </a:ext>
                </a:extLst>
              </a:tr>
              <a:tr h="784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protection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891261"/>
                  </a:ext>
                </a:extLst>
              </a:tr>
              <a:tr h="784374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06935"/>
                  </a:ext>
                </a:extLst>
              </a:tr>
              <a:tr h="784374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150785"/>
                  </a:ext>
                </a:extLst>
              </a:tr>
              <a:tr h="784374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848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10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7CF2-0F8A-8ADE-7D6E-AF1580A9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7885-44B3-395E-53B6-4B272A3E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917952"/>
            <a:ext cx="11640457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Cloud Security </a:t>
            </a:r>
            <a:r>
              <a:rPr lang="en-IN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A28CF8-2DAB-2AE8-E0C7-F70FC793680B}"/>
              </a:ext>
            </a:extLst>
          </p:cNvPr>
          <p:cNvSpPr txBox="1">
            <a:spLocks/>
          </p:cNvSpPr>
          <p:nvPr/>
        </p:nvSpPr>
        <p:spPr>
          <a:xfrm>
            <a:off x="794513" y="2082127"/>
            <a:ext cx="5560488" cy="4579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6D06F1-CC2A-BD83-7AE8-60611866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6</a:t>
            </a:fld>
            <a:endParaRPr lang="en-IN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0F25848-0AEB-3CB1-EF91-D04DC092CE36}"/>
              </a:ext>
            </a:extLst>
          </p:cNvPr>
          <p:cNvSpPr/>
          <p:nvPr/>
        </p:nvSpPr>
        <p:spPr>
          <a:xfrm>
            <a:off x="8526980" y="4045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215244B6-7567-1538-5C0B-51C2C2906FF8}"/>
              </a:ext>
            </a:extLst>
          </p:cNvPr>
          <p:cNvSpPr/>
          <p:nvPr/>
        </p:nvSpPr>
        <p:spPr>
          <a:xfrm>
            <a:off x="-7596" y="677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28F7B-A64E-8D3F-8560-627D03650673}"/>
              </a:ext>
            </a:extLst>
          </p:cNvPr>
          <p:cNvSpPr txBox="1"/>
          <p:nvPr/>
        </p:nvSpPr>
        <p:spPr>
          <a:xfrm>
            <a:off x="4189228" y="2417348"/>
            <a:ext cx="6315738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Threats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and ransomware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 attacks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cloud storage</a:t>
            </a:r>
          </a:p>
        </p:txBody>
      </p:sp>
    </p:spTree>
    <p:extLst>
      <p:ext uri="{BB962C8B-B14F-4D97-AF65-F5344CB8AC3E}">
        <p14:creationId xmlns:p14="http://schemas.microsoft.com/office/powerpoint/2010/main" val="101220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033D-F7BF-84A6-A7D9-96B992EB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54B1-9F7A-844B-58D6-760FB583C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396950"/>
            <a:ext cx="11640457" cy="95693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Best Practices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93257BC-271B-A08F-6A3C-4D36C4041A1D}"/>
              </a:ext>
            </a:extLst>
          </p:cNvPr>
          <p:cNvSpPr txBox="1">
            <a:spLocks/>
          </p:cNvSpPr>
          <p:nvPr/>
        </p:nvSpPr>
        <p:spPr>
          <a:xfrm>
            <a:off x="2073352" y="1779182"/>
            <a:ext cx="8708065" cy="5078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Multi-Factor Authentication (MFA).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sensitive data.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least-privilege access.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regular backups.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logs and activities.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systems updated with security patches.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818F64-1F70-5023-EC3A-FC898A3B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7</a:t>
            </a:fld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F071E62-A3A2-3BC2-D3B2-FCFB76153879}"/>
              </a:ext>
            </a:extLst>
          </p:cNvPr>
          <p:cNvSpPr/>
          <p:nvPr/>
        </p:nvSpPr>
        <p:spPr>
          <a:xfrm>
            <a:off x="0" y="-28352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E707105-7FD2-B943-322E-276F664ECF0C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251431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3A91-970A-9FF7-5121-E6F12669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1A67-F287-6820-B122-5690BE0B2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928587"/>
            <a:ext cx="11640457" cy="95693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Security Practices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F2FB94-015A-1372-AA61-7B1A2638B1BC}"/>
              </a:ext>
            </a:extLst>
          </p:cNvPr>
          <p:cNvSpPr txBox="1">
            <a:spLocks/>
          </p:cNvSpPr>
          <p:nvPr/>
        </p:nvSpPr>
        <p:spPr>
          <a:xfrm>
            <a:off x="129590" y="2193009"/>
            <a:ext cx="10396643" cy="3902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7747E0-7347-5E2F-EBE9-94F3A143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8</a:t>
            </a:fld>
            <a:endParaRPr lang="en-IN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9BD9EE43-04DE-E871-12A4-CEC735C01F89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BA3CDEDB-D7AB-5BAD-C7D1-B41471A893BB}"/>
              </a:ext>
            </a:extLst>
          </p:cNvPr>
          <p:cNvSpPr/>
          <p:nvPr/>
        </p:nvSpPr>
        <p:spPr>
          <a:xfrm>
            <a:off x="-7596" y="677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4FAEA-5303-A504-3FCB-FF840831CB30}"/>
              </a:ext>
            </a:extLst>
          </p:cNvPr>
          <p:cNvSpPr txBox="1"/>
          <p:nvPr/>
        </p:nvSpPr>
        <p:spPr>
          <a:xfrm>
            <a:off x="2711303" y="2021508"/>
            <a:ext cx="7995683" cy="390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Practices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IAM for access control.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Security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Security Command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and automated threat detection.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ISO 27001, GDPR, and HIPAA.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39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2E00-8B2C-C90D-C25C-CA27F1CE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1B5B-1D77-DD49-6AFD-6FB088833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134" y="896679"/>
            <a:ext cx="8172893" cy="95693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Cloud Security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36606A5-6AF0-1CFF-D70E-ECB302346833}"/>
              </a:ext>
            </a:extLst>
          </p:cNvPr>
          <p:cNvSpPr txBox="1">
            <a:spLocks/>
          </p:cNvSpPr>
          <p:nvPr/>
        </p:nvSpPr>
        <p:spPr>
          <a:xfrm>
            <a:off x="3296096" y="2009557"/>
            <a:ext cx="7506583" cy="4040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information.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cyber risks.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regulatory compliance.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business continuity.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customer trust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9BF0888-9AB9-1643-41D8-21B22CD10287}"/>
              </a:ext>
            </a:extLst>
          </p:cNvPr>
          <p:cNvSpPr/>
          <p:nvPr/>
        </p:nvSpPr>
        <p:spPr>
          <a:xfrm>
            <a:off x="130630" y="181429"/>
            <a:ext cx="2222710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DACE10F-C519-AFAF-75E3-DC99F02DCFC5}"/>
              </a:ext>
            </a:extLst>
          </p:cNvPr>
          <p:cNvSpPr/>
          <p:nvPr/>
        </p:nvSpPr>
        <p:spPr>
          <a:xfrm>
            <a:off x="9455888" y="174171"/>
            <a:ext cx="2569197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41366F-F687-2E9A-F729-C9141386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62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E9B2-5E59-4F5A-8AB8-779E65E4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F3C0-46C0-DD2C-1F83-729053BAD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396950"/>
            <a:ext cx="11640457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B5DC86-BCD4-610E-0223-883B42D3683E}"/>
              </a:ext>
            </a:extLst>
          </p:cNvPr>
          <p:cNvSpPr txBox="1">
            <a:spLocks/>
          </p:cNvSpPr>
          <p:nvPr/>
        </p:nvSpPr>
        <p:spPr>
          <a:xfrm>
            <a:off x="972120" y="1222574"/>
            <a:ext cx="10213331" cy="4579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is essential for protecting cloud resources.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a shared responsibility between provider and customer.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best practices minimizes security risks.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helps maintain a secure cloud environment. </a:t>
            </a:r>
          </a:p>
          <a:p>
            <a:pPr algn="just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93E11FF-9A5E-08A2-9EF4-26C179ED1CF0}"/>
              </a:ext>
            </a:extLst>
          </p:cNvPr>
          <p:cNvSpPr/>
          <p:nvPr/>
        </p:nvSpPr>
        <p:spPr>
          <a:xfrm>
            <a:off x="130630" y="181429"/>
            <a:ext cx="3236348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47A883B-EB21-B206-6328-F7F983B0B926}"/>
              </a:ext>
            </a:extLst>
          </p:cNvPr>
          <p:cNvSpPr/>
          <p:nvPr/>
        </p:nvSpPr>
        <p:spPr>
          <a:xfrm>
            <a:off x="8775404" y="174171"/>
            <a:ext cx="3249681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0639E-E84C-9380-6360-7C7970FC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47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D78F-9183-AFF8-6DF2-8F31A74E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CB0B-ABAA-36AB-2D10-75F8F83EE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8501" y="2565992"/>
            <a:ext cx="6083173" cy="95693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01C77C-3CEC-8634-2C28-4DBACA57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50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337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Cloud Security Fundamentals</vt:lpstr>
      <vt:lpstr>Introduction</vt:lpstr>
      <vt:lpstr>Objective</vt:lpstr>
      <vt:lpstr>Cloud  Models</vt:lpstr>
      <vt:lpstr> Shared Responsibility Model</vt:lpstr>
      <vt:lpstr>Common Cloud Security Threa</vt:lpstr>
      <vt:lpstr>Security Best Practices</vt:lpstr>
      <vt:lpstr>Real-World Security Practices</vt:lpstr>
      <vt:lpstr>Benefits of Cloud Security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pushpacharitha papagari</dc:creator>
  <cp:lastModifiedBy>Prateeksha S</cp:lastModifiedBy>
  <cp:revision>16</cp:revision>
  <dcterms:created xsi:type="dcterms:W3CDTF">2026-06-16T07:21:40Z</dcterms:created>
  <dcterms:modified xsi:type="dcterms:W3CDTF">2026-07-21T15:14:39Z</dcterms:modified>
</cp:coreProperties>
</file>